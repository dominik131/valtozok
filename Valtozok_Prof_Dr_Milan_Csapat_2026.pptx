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Nyitás. Köszöntjük a hallgatóságot! Témánk a változók használata programozási környezetben. A változók szinte minden program alapját jelentik, mivel segítségükkel adatokat tárolhatunk, módosíthatunk és feldolgozhatunk. A példákat Python nyelven mutatjuk be, mert jól olvasható, de az alapelv más nyelvekre is érvényes.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A változó egy elnevezett hivatkozási lehetőség egy tárolt vagy kezelt értékre. Kezdő szinten elképzelhetjük feliratozott dobozként: a felirat a név, a tartalom az érték. Fontos pontosítás: Pythonban a változónév egy objektumra hivatkozik, nem minden esetben önálló memóriadobozt jelent. A példában az eletkor változó a 18 egész számhoz kötődik.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GERGŐ – A Pythonban értékadáshoz az egyszeres egyenlőségjelet használjuk. A bal oldalon áll a változó neve, a jobb oldalon az érték vagy egy kifejezés. A szöveget idézőjelek közé tesszük, az egész számot és a tizedes számot nem. Az egyenlőségjel itt hozzárendelést jelent, nem állítást arról, hogy két oldal matematikailag egyenlő.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GERGŐ – Négy gyakori adattípus: int, vagyis egész szám; float, vagyis lebegőpontos, tizedes szám; str, vagyis karakterlánc; bool, amely True vagy False értéket vehet fel. Az adattípus meghatározza, milyen műveleteket végezhetünk egy értékkel. Pythonban a típus futás közben az értékhez kapcsolódik, és a type() függvénnyel ellenőrizhető.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Változókkal összeadhatunk, kivonhatunk, szorozhatunk és oszthatunk. A példában 1200 forint egy termék ára, három darabot vásárolunk, így a fizetendő összeg 3600 forint. A print() az eredményt kiírja. A # utáni rész megjegyzés, amelyet Python nem hajt végre.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A pont először 10 értéket kap. A következő utasítás kiértékeli a jobb oldalt: a pont jelenlegi értékéhez hozzáad ötöt. Az eredményt visszarendeli ugyanahhoz a változónévhez, így ezután a pont értéke 15. Rövidített írásmód: pont += 5. Fontos, hogy az értékadás sorrendje számít.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GERGŐ – A program nem csak előre megadott értékekkel működhet. Az input() segítségével adatot kérünk a felhasználótól. Az input() Pythonban alapértelmezés szerint szöveget ad vissza. Ha számolni akarunk a beírt értékkel, gyakran át kell alakítani például int(input(...)) használatával. A példánkban a felhasználó neve kerül változóba, utána személyre szabott üdvözlést írunk 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A változónevekből derüljön ki, hogy mire szolgálnak. Például az ar vagy teljes_ar jobb, mint az a vagy x, ha a feladat pénzösszegre utal. Pythonban a változónév nem kezdődhet számjeggyel, nem lehet foglalt kulcsszó, és megkülönbözteti a kis- és nagybetűket. A snake_case írásmód, például teljes_ar, a Pythonban megszokott.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DOMINIK – Két gyakori meglepetés az adattípusok miatt: a "5" és "2" idézőjelek között szöveg, ezért összeadással a "52" eredményt kapjuk; a számként leírt 5+2 eredménye 7. A harmadik hiba, hogy a Python érzékeny a kis- és nagybetűkre: nev és Nev két különböző változónév. Valós hibánál érdemes elolvasni a hibaüzenetet és kiíratni a változó értékét, illetve típusát.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Tegyünk fel egy gyors kérdést a közönségnek. a kezdetben 7. A += 3 hárommal növeli, tehát az új érték 10. A print(a * 2) ennek a kétszeresét írja ki: 20. Hagyjunk pár másodperc gondolkodási időt, majd mondjuk el a megoldást. A dián a válasz is látható, ezért előadáskor célszerű először a kódra irányítani a figyelmet.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MILÁN – Összefoglalás: a változók nevet adnak az adatoknak, így a program ezeket később felhasználhatja. Láttunk értékadást, adattípusokat, műveleteket, értékmódosítást, bemenetet és névadási szabályokat. A változókezelés a feltételek, ciklusok, függvények és később az összetettebb programok alapja. Köszönjük a figyelmet, várjuk a kérdéseket.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NYITÁNY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694944" y="978408"/>
            <a:ext cx="2340864" cy="283464"/>
          </a:xfrm>
          <a:prstGeom prst="roundRect">
            <a:avLst>
              <a:gd name="adj" fmla="val 25806"/>
            </a:avLst>
          </a:prstGeom>
          <a:solidFill>
            <a:srgbClr val="192439"/>
          </a:solidFill>
          <a:ln w="12700">
            <a:solidFill>
              <a:srgbClr val="19243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02870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spc="140" kern="0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PROGRAMOZÁS ALAPOK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58368" y="1627632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b="1" spc="110" kern="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VÁLTOZÓK</a:t>
            </a:r>
            <a:endParaRPr lang="en-US" sz="7300" dirty="0"/>
          </a:p>
        </p:txBody>
      </p:sp>
      <p:sp>
        <p:nvSpPr>
          <p:cNvPr id="11" name="Text 9"/>
          <p:cNvSpPr/>
          <p:nvPr/>
        </p:nvSpPr>
        <p:spPr>
          <a:xfrm>
            <a:off x="713232" y="27889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adatok, amelyek életre keltik a kódot.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22376" y="4069080"/>
            <a:ext cx="10735056" cy="1097280"/>
          </a:xfrm>
          <a:prstGeom prst="roundRect">
            <a:avLst>
              <a:gd name="adj" fmla="val 16667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306824"/>
            <a:ext cx="3931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0" y="44897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érték  →  tárolás  →  felhasználás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" y="5742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csapatkapitánymesterendusz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" y="60716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Gergő  ·  Dr. Dominik</a:t>
            </a:r>
            <a:endParaRPr lang="en-US" sz="13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FOGALOM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az a változó?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Egy név, ami egy értékre hivatkozik.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" y="2770632"/>
            <a:ext cx="3182112" cy="1645920"/>
          </a:xfrm>
          <a:prstGeom prst="roundRect">
            <a:avLst>
              <a:gd name="adj" fmla="val 9444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0358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NÉV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3575304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eletkor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90288" y="3191256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900" dirty="0"/>
          </a:p>
        </p:txBody>
      </p:sp>
      <p:sp>
        <p:nvSpPr>
          <p:cNvPr id="14" name="Shape 12"/>
          <p:cNvSpPr/>
          <p:nvPr/>
        </p:nvSpPr>
        <p:spPr>
          <a:xfrm>
            <a:off x="6940296" y="2770632"/>
            <a:ext cx="4169664" cy="1645920"/>
          </a:xfrm>
          <a:prstGeom prst="roundRect">
            <a:avLst>
              <a:gd name="adj" fmla="val 9444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30358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ÉRTÉK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87768" y="35112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23544" y="5102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az értéket a változó nevén keresztül éri el.</a:t>
            </a:r>
            <a:endParaRPr lang="en-US" sz="19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HOZZÁRENDELÉS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Hogyan hozunk létre változót?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Név + egyenlőségjel + érték.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6812280" cy="3054096"/>
          </a:xfrm>
          <a:prstGeom prst="roundRect">
            <a:avLst>
              <a:gd name="adj" fmla="val 4491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054096"/>
            <a:ext cx="6812280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76148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2761488"/>
            <a:ext cx="91440" cy="91440"/>
          </a:xfrm>
          <a:prstGeom prst="ellipse">
            <a:avLst/>
          </a:prstGeom>
          <a:solidFill>
            <a:srgbClr val="FFDA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761488"/>
            <a:ext cx="91440" cy="91440"/>
          </a:xfrm>
          <a:prstGeom prst="ellipse">
            <a:avLst/>
          </a:prstGeom>
          <a:solidFill>
            <a:srgbClr val="6DF3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7249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" y="3291840"/>
            <a:ext cx="62179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 = "Milán"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eletkor = 18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A6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atlag = 4.7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8010144" y="2587752"/>
            <a:ext cx="3200400" cy="3035808"/>
          </a:xfrm>
          <a:prstGeom prst="roundRect">
            <a:avLst>
              <a:gd name="adj" fmla="val 4217"/>
            </a:avLst>
          </a:prstGeom>
          <a:solidFill>
            <a:srgbClr val="192439"/>
          </a:solidFill>
          <a:ln w="12700">
            <a:solidFill>
              <a:srgbClr val="19243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9443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8997696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hozzárendelés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48472" y="3968496"/>
            <a:ext cx="2441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matematikai egyenlet!</a:t>
            </a:r>
            <a:endParaRPr lang="en-US" sz="22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ADATTÍPUSOK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 érték típusa számít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minden adat viselkedik ugyanúgy.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" y="2697480"/>
            <a:ext cx="2651760" cy="2340864"/>
          </a:xfrm>
          <a:prstGeom prst="roundRect">
            <a:avLst>
              <a:gd name="adj" fmla="val 4688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5844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449884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egész szám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75304" y="2697480"/>
            <a:ext cx="2651760" cy="2340864"/>
          </a:xfrm>
          <a:prstGeom prst="roundRect">
            <a:avLst>
              <a:gd name="adj" fmla="val 4688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67328" y="35844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767328" y="449884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tizedes szám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28232" y="2697480"/>
            <a:ext cx="2651760" cy="2340864"/>
          </a:xfrm>
          <a:prstGeom prst="roundRect">
            <a:avLst>
              <a:gd name="adj" fmla="val 4688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0256" y="35844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620256" y="449884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szöveg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81160" y="2697480"/>
            <a:ext cx="2651760" cy="2340864"/>
          </a:xfrm>
          <a:prstGeom prst="roundRect">
            <a:avLst>
              <a:gd name="adj" fmla="val 4688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73184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9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73184" y="35844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473184" y="449884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logikai érték</a:t>
            </a:r>
            <a:endParaRPr lang="en-US" sz="13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MŰVELETEK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változóval számolhatunk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tárolt adatokból új eredmény születhet.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2468880"/>
            <a:ext cx="7351776" cy="3410712"/>
          </a:xfrm>
          <a:prstGeom prst="roundRect">
            <a:avLst>
              <a:gd name="adj" fmla="val 4021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44368"/>
            <a:ext cx="7351776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65176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2651760"/>
            <a:ext cx="91440" cy="91440"/>
          </a:xfrm>
          <a:prstGeom prst="ellipse">
            <a:avLst/>
          </a:prstGeom>
          <a:solidFill>
            <a:srgbClr val="FFDA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651760"/>
            <a:ext cx="91440" cy="91440"/>
          </a:xfrm>
          <a:prstGeom prst="ellipse">
            <a:avLst/>
          </a:prstGeom>
          <a:solidFill>
            <a:srgbClr val="6DF3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26151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" y="3182112"/>
            <a:ext cx="675741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 = 1200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A6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darab = 3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3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osszeg = ar * darab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print(osszeg)  # 3600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449056" y="2825496"/>
            <a:ext cx="2596896" cy="2606040"/>
          </a:xfrm>
          <a:prstGeom prst="roundRect">
            <a:avLst>
              <a:gd name="adj" fmla="val 6338"/>
            </a:avLst>
          </a:prstGeom>
          <a:solidFill>
            <a:srgbClr val="192439"/>
          </a:solidFill>
          <a:ln w="12700">
            <a:solidFill>
              <a:srgbClr val="19243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3621024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3600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778240" y="4498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EREDMÉNY</a:t>
            </a:r>
            <a:endParaRPr lang="en-US" sz="12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VÁLTOZÁS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És igen: meg is változhat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Ezért hívjuk változónak.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6858000" cy="3090672"/>
          </a:xfrm>
          <a:prstGeom prst="roundRect">
            <a:avLst>
              <a:gd name="adj" fmla="val 4438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99816"/>
            <a:ext cx="6858000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" y="280720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6152" y="2807208"/>
            <a:ext cx="91440" cy="91440"/>
          </a:xfrm>
          <a:prstGeom prst="ellipse">
            <a:avLst/>
          </a:prstGeom>
          <a:solidFill>
            <a:srgbClr val="FFDA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2807208"/>
            <a:ext cx="91440" cy="91440"/>
          </a:xfrm>
          <a:prstGeom prst="ellipse">
            <a:avLst/>
          </a:prstGeom>
          <a:solidFill>
            <a:srgbClr val="6DF3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7706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6424" y="3337560"/>
            <a:ext cx="62636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 = 10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3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 = pont + 5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print(pont)  # 15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8019288" y="2615184"/>
            <a:ext cx="3246120" cy="3108960"/>
          </a:xfrm>
          <a:prstGeom prst="roundRect">
            <a:avLst>
              <a:gd name="adj" fmla="val 5294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337413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363456" y="342900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0094976" y="3374136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48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BEMENET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felhasználó is adhat adatot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a begépelt értékkel dolgozik.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" y="2642616"/>
            <a:ext cx="7607808" cy="2898648"/>
          </a:xfrm>
          <a:prstGeom prst="roundRect">
            <a:avLst>
              <a:gd name="adj" fmla="val 4732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3118104"/>
            <a:ext cx="76078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282549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7864" y="2825496"/>
            <a:ext cx="91440" cy="91440"/>
          </a:xfrm>
          <a:prstGeom prst="ellipse">
            <a:avLst/>
          </a:prstGeom>
          <a:solidFill>
            <a:srgbClr val="FFDA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2825496"/>
            <a:ext cx="91440" cy="91440"/>
          </a:xfrm>
          <a:prstGeom prst="ellipse">
            <a:avLst/>
          </a:prstGeom>
          <a:solidFill>
            <a:srgbClr val="6DF3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27889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8136" y="3355848"/>
            <a:ext cx="701344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 = input("Neved: ")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print("Szia, " + nev)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705088" y="2862072"/>
            <a:ext cx="2532888" cy="2414016"/>
          </a:xfrm>
          <a:prstGeom prst="roundRect">
            <a:avLst>
              <a:gd name="adj" fmla="val 6818"/>
            </a:avLst>
          </a:prstGeom>
          <a:solidFill>
            <a:srgbClr val="192439"/>
          </a:solidFill>
          <a:ln w="12700">
            <a:solidFill>
              <a:srgbClr val="19243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3291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8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09760" y="38130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9043416" y="449884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23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JÓ GYAKORLAT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Beszédes nevek. Tisztább kód.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Három szabály, ami rengeteg hibát megelőz.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8096" y="2377440"/>
            <a:ext cx="10561320" cy="896112"/>
          </a:xfrm>
          <a:prstGeom prst="roundRect">
            <a:avLst>
              <a:gd name="adj" fmla="val 10204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61518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975104" y="256946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beszédes név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6096" y="26517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felhasznalo_nev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8096" y="3483864"/>
            <a:ext cx="10561320" cy="896112"/>
          </a:xfrm>
          <a:prstGeom prst="roundRect">
            <a:avLst>
              <a:gd name="adj" fmla="val 10204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7216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9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75104" y="367588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számjeggyel kezdődjön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26096" y="375818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B9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2pont  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8096" y="4590288"/>
            <a:ext cx="10561320" cy="896112"/>
          </a:xfrm>
          <a:prstGeom prst="roundRect">
            <a:avLst>
              <a:gd name="adj" fmla="val 10204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828032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975104" y="478231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következetes írásmód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26096" y="4864608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teljes_ar</a:t>
            </a:r>
            <a:endParaRPr lang="en-US" sz="18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GYAKORI HIBÁK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Három klasszikus hiba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hibakeresés a programozás része.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" y="2697480"/>
            <a:ext cx="3584448" cy="2615184"/>
          </a:xfrm>
          <a:prstGeom prst="roundRect">
            <a:avLst>
              <a:gd name="adj" fmla="val 4895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09067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 + "2"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96696" y="38404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"52"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996696" y="46908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Szöveget fűz össze.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81144" y="2697480"/>
            <a:ext cx="3584448" cy="2615184"/>
          </a:xfrm>
          <a:prstGeom prst="roundRect">
            <a:avLst>
              <a:gd name="adj" fmla="val 4895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09067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18888" y="38404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4818888" y="46908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Számokat ad össze.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03336" y="2697480"/>
            <a:ext cx="3584448" cy="2615184"/>
          </a:xfrm>
          <a:prstGeom prst="roundRect">
            <a:avLst>
              <a:gd name="adj" fmla="val 4895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309067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 ≠ Nev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641080" y="38404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különböző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8641080" y="46908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kis- és nagybetű számít.</a:t>
            </a:r>
            <a:endParaRPr lang="en-US" sz="13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MINI-KVÍZ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941832"/>
            <a:ext cx="10881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ír ki ez a program?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10424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Gondolkodj, mielőtt tovább lépsz.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514600"/>
            <a:ext cx="6748272" cy="3017520"/>
          </a:xfrm>
          <a:prstGeom prst="roundRect">
            <a:avLst>
              <a:gd name="adj" fmla="val 4545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990088"/>
            <a:ext cx="6748272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269748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697480"/>
            <a:ext cx="91440" cy="91440"/>
          </a:xfrm>
          <a:prstGeom prst="ellipse">
            <a:avLst/>
          </a:prstGeom>
          <a:solidFill>
            <a:srgbClr val="FFDA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9616" y="2697480"/>
            <a:ext cx="91440" cy="91440"/>
          </a:xfrm>
          <a:prstGeom prst="ellipse">
            <a:avLst/>
          </a:prstGeom>
          <a:solidFill>
            <a:srgbClr val="6DF3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6609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227832"/>
            <a:ext cx="61539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7E4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6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+= 3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C8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 2)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991856" y="2514600"/>
            <a:ext cx="3182112" cy="3008376"/>
          </a:xfrm>
          <a:prstGeom prst="roundRect">
            <a:avLst>
              <a:gd name="adj" fmla="val 4863"/>
            </a:avLst>
          </a:prstGeom>
          <a:solidFill>
            <a:srgbClr val="192439"/>
          </a:solidFill>
          <a:ln w="12700">
            <a:solidFill>
              <a:srgbClr val="19243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816" y="2926080"/>
            <a:ext cx="142646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300" dirty="0"/>
          </a:p>
        </p:txBody>
      </p:sp>
      <p:sp>
        <p:nvSpPr>
          <p:cNvPr id="19" name="Text 17"/>
          <p:cNvSpPr/>
          <p:nvPr/>
        </p:nvSpPr>
        <p:spPr>
          <a:xfrm>
            <a:off x="8348472" y="4946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VÁLASZ: 20</a:t>
            </a:r>
            <a:endParaRPr lang="en-US" sz="16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E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FF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/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8472" y="246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ZÁRÁS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83096"/>
            <a:ext cx="11265408" cy="0"/>
          </a:xfrm>
          <a:prstGeom prst="line">
            <a:avLst/>
          </a:prstGeom>
          <a:noFill/>
          <a:ln w="12700">
            <a:solidFill>
              <a:srgbClr val="2835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74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65745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0" dirty="0">
                <a:solidFill>
                  <a:srgbClr val="9BA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DR. MILÁN · DR. GERGŐ · DR. DOMINIK</a:t>
            </a:r>
            <a:endParaRPr lang="en-US" sz="81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10972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MINDEN PROGRAM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58368" y="2331720"/>
            <a:ext cx="10972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F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ADATOKKAL DOLGOZIK.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68096" y="3922776"/>
            <a:ext cx="10570464" cy="1133856"/>
          </a:xfrm>
          <a:prstGeom prst="roundRect">
            <a:avLst>
              <a:gd name="adj" fmla="val 12903"/>
            </a:avLst>
          </a:prstGeom>
          <a:solidFill>
            <a:srgbClr val="131B2B"/>
          </a:solidFill>
          <a:ln w="12700">
            <a:solidFill>
              <a:srgbClr val="2835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261104"/>
            <a:ext cx="9985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7E4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Létrehozás  →  Tárolás  →  Módosítás  →  Felhasználás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" y="5705856"/>
            <a:ext cx="10442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KÖSZÖNJÜK A FIGYELMET!</a:t>
            </a:r>
            <a:endParaRPr lang="en-US" sz="2200" dirty="0"/>
          </a:p>
        </p:txBody>
      </p:sp>
    </p:spTree>
  </p:cSld>
  <p:transition spd="med" advClick="1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6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VÁLTOZÓK // 2026</dc:title>
  <dc:subject>A változók használata programozási környezetben</dc:subject>
  <dc:creator>Prof. Dr. Milán • Dr. Gergő • Dr. Dominik</dc:creator>
  <cp:lastModifiedBy>Prof. Dr. Milán • Dr. Gergő • Dr. Dominik</cp:lastModifiedBy>
  <cp:revision>1</cp:revision>
  <dcterms:created xsi:type="dcterms:W3CDTF">2026-10-12T11:53:02Z</dcterms:created>
  <dcterms:modified xsi:type="dcterms:W3CDTF">2026-10-12T11:53:02Z</dcterms:modified>
</cp:coreProperties>
</file>